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050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017"/>
                </a:solidFill>
              </a:rPr>
              <a:t>ANALYSTLAB AFRICA — WEEK 4 INTERNSHIP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</a:rPr>
              <a:t>A business intelligence report analyzing sales performance,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</a:rPr>
              <a:t>profitability, and product trends using Microsoft Power BI.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Tool: Microsoft Power BI     |     Dataset: Superstore Sales     |     Tool: Microsoft Power 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The Superstore dataset is a widely used retail sales dataset that simulates the operations of a fictional US-based store. It covers orders placed between 2016 and 2019 across furniture, technology, and office supplies.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</a:rPr>
              <a:t>9,994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5603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</a:rPr>
              <a:t>21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603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017"/>
                </a:solidFill>
              </a:rPr>
              <a:t>2016 – 2019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Date Range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What the dataset covers: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Order Details — Order ID, Order Date, Ship Date, Ship Mode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Customer Information — Customer ID, Name, Segment (Consumer / Corporate / Home Office)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Geography — Country, City, State, Postal Code, Region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Product Information — Product ID, Category, Sub-Category, Product Name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Financials — Sales, Quantity, Discount, Profit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Order Details — Order ID, Order Date, Ship Date, Ship Mode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Customer Information — Customer ID, Name, Segment (Consumer / Corporate / Home Office)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Geography — Country, City, State, Postal Code, Region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Product Information — Product ID, Category, Sub-Category, Product Name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</a:rPr>
              <a:t>Financials — Sales, Quantity, Discount, Profit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The Superstore has years of sales data, but without proper analysis, it's impossible to know what's actually working and what isn't. This dashboard was built to answer the following questions: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6576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49808" y="16733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Which regions and states are generating the most revenue and profit — and which are underperforming?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22576"/>
            <a:ext cx="36576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49808" y="2331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Which product categories and sub-categories are losing money despite healthy sales volumes?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80944"/>
            <a:ext cx="36576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49808" y="2990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Is the business actually growing year-over-year, or are we hitting a plateau?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39312"/>
            <a:ext cx="36576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49808" y="364845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Are the discounts being offered helping drive sales, or silently killing profit margins?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36576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49808" y="430682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Which customer segments offer the most value, and where should the business focus its effort?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Defined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Eight key performance indicators were defined to drive the analysis: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85800" y="13624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</a:rPr>
              <a:t>SUM(Sales)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01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Shows the total money generated from all orders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2276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Total Profit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</a:rPr>
              <a:t>SUM(Profit)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715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What the business actually keeps after all costs are deducted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800" y="3191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Total Orders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</a:rPr>
              <a:t>DISTINCTCOUNT(Order ID)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630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Measures business volume and overall activity levels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41648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85800" y="4105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Profit Margin 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</a:rPr>
              <a:t>Total Profit ÷ Total 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544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How much of every dollar earned becomes actual profit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298448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46320" y="13624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Average Order Value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600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</a:rPr>
              <a:t>Total Revenue ÷ Total Orders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801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Shows how much a typical customer spends per transaction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12848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46320" y="2276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Sales Growth 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514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</a:rPr>
              <a:t>YoY comparison via SAMEPERIODLASTYEAR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715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Tracks whether the business is improving year-over-year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127248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846320" y="3191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Top Performing Region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429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</a:rPr>
              <a:t>TOPN(1) ranked by Sales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630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Quickly surfaces the strongest geographic market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4041648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46320" y="4105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Best Selling Category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343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</a:rPr>
              <a:t>TOPN(1) ranked by Sales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544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Identifies which product type drives the most revenue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Superstore Sales Overview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32004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[ Insert Page 1 Dashboard Screenshot Here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Page 1 includes:  6 KPI Cards  •  Sales Trend Per </a:t>
            </a:r>
            <a:r>
              <a:rPr lang="en-US" sz="1000" dirty="0" err="1">
                <a:solidFill>
                  <a:srgbClr val="6B7280"/>
                </a:solidFill>
              </a:rPr>
              <a:t>YearLine</a:t>
            </a:r>
            <a:r>
              <a:rPr lang="en-US" sz="1000" dirty="0">
                <a:solidFill>
                  <a:srgbClr val="6B7280"/>
                </a:solidFill>
              </a:rPr>
              <a:t> Chart  •  Profit by Region Bar Chart  •  Sales by State Map  •  Year / Region/ Slicers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598898-0380-8D5E-72D0-1FC5F850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207008"/>
            <a:ext cx="8046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Profit &amp; Product Performance Analysis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32004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</a:rPr>
              <a:t>[ Insert Page 2 Dashboard Screenshot Here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034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Page 2 includes:  3 KPI Cards  •  Worst Performing Products •  Sales by Customer (Pie Chart)  •  Sales by Ship Mode  •  Category/ Slicer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D36025-C4AF-D519-FCD7-207492228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7009"/>
            <a:ext cx="8046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What the data revealed: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36576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49808" y="1289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The West Region leads in both revenue and profit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5544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Despite having similar order volumes to other regions, the West consistently outperforms, pointing to stronger product mix or higher-value customers in that market.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36576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49808" y="22037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Tables and Bookcases are actively losing money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Both sub-categories show negative profit despite reasonable sales volumes. Deep discounting appears to be the cause as they are being sold below cost.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36576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49808" y="3118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Higher discounts directly hurt profitability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33832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scatter chart shows a clear negative correlation. Once discounts exceed 20%, profit drops sharply. Not all discounts are driving value.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05072"/>
            <a:ext cx="36576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49808" y="40325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Consumers dominate volume, but Corporate buyers spend more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42976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Consumer segment places the most orders, but Corporate customers consistently have higher average order values per transaction.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Based on the analysis, here are four actionable next steps for the business: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3167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Cap discounts on Furniture products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819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Tables and Bookcases should have a discount ceiling of 10–15%. The current levels are eroding margins and the products need immediate pricing review.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2311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Invest more in the West Region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West generates the highest returns. Increasing marketing spend and inventory allocation there, while studying what makes it work, can help replicate success elsewhere.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1455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Build a targeted Corporate sales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4107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Corporate buyers spend significantly more per order. A focused B2B outreach program could improve average order value without increasing order volume.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0599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Audit and reprice underperforming sub-categories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3251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Tables, Bookcases, and Supplies consistently underperform. A product profitability review should determine whether to reprice, reduce discounts, or phase these out.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Honest reflections on what was difficult along the way: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3657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49808" y="1289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Date column format errors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5544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Order Date column was stored as text in MM/DD/YYYY format, which caused errors when changing data types. This was fixed by using Change Type, and then using Locale set to English (United States).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3657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49808" y="22037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Writing DAX measures from scratch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468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Building the Sales Growth measure with VAR, CALCULATE, and SAMEPERIODLASTYEAR was confusing at first. Understanding that these work together as a unit and not individually helped.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3657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49808" y="3118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Map visual not </a:t>
            </a:r>
            <a:r>
              <a:rPr lang="en-US" sz="1200" b="1" dirty="0" err="1">
                <a:solidFill>
                  <a:srgbClr val="1A1A2E"/>
                </a:solidFill>
              </a:rPr>
              <a:t>Visualising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33832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map visual did not load initially. This required enabling map visuals under File, Options, Security in Power BI, which is turned off by default.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05072"/>
            <a:ext cx="3657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49808" y="40325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Avoiding a cluttered layout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42976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Fitting all KPIs, charts, and slicers on one page made things feel cramped. Splitting into two focused pages with one for overview, one for deep analysis solved the problem.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1019</Words>
  <Application>Microsoft Office PowerPoint</Application>
  <PresentationFormat>On-screen Show (16:9)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feyikemi Akande</cp:lastModifiedBy>
  <cp:revision>2</cp:revision>
  <dcterms:created xsi:type="dcterms:W3CDTF">2026-06-30T20:31:34Z</dcterms:created>
  <dcterms:modified xsi:type="dcterms:W3CDTF">2026-07-01T06:25:19Z</dcterms:modified>
</cp:coreProperties>
</file>