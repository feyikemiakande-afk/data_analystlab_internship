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10"/>
  </p:normalViewPr>
  <p:slideViewPr>
    <p:cSldViewPr snapToGrid="0" snapToObjects="1">
      <p:cViewPr varScale="1">
        <p:scale>
          <a:sx n="88" d="100"/>
          <a:sy n="88" d="100"/>
        </p:scale>
        <p:origin x="21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792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804672" y="1055098"/>
            <a:ext cx="5760719" cy="47478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000" b="1" kern="1200" dirty="0">
                <a:solidFill>
                  <a:schemeClr val="tx2"/>
                </a:solidFill>
                <a:latin typeface="+mj-lt"/>
                <a:ea typeface="+mj-ea"/>
                <a:cs typeface="+mj-cs"/>
              </a:rPr>
              <a:t>Term Deposit Subscription Analysis</a:t>
            </a:r>
            <a:endParaRPr lang="en-US" sz="4000" kern="1200" dirty="0">
              <a:solidFill>
                <a:schemeClr val="tx2"/>
              </a:solidFill>
              <a:latin typeface="+mj-lt"/>
              <a:ea typeface="+mj-ea"/>
              <a:cs typeface="+mj-cs"/>
            </a:endParaRPr>
          </a:p>
        </p:txBody>
      </p:sp>
      <p:sp>
        <p:nvSpPr>
          <p:cNvPr id="3" name="Text 1"/>
          <p:cNvSpPr/>
          <p:nvPr/>
        </p:nvSpPr>
        <p:spPr>
          <a:xfrm>
            <a:off x="784100" y="2939682"/>
            <a:ext cx="6150100" cy="3581400"/>
          </a:xfrm>
          <a:prstGeom prst="rect">
            <a:avLst/>
          </a:prstGeom>
        </p:spPr>
        <p:txBody>
          <a:bodyPr vert="horz" lIns="91440" tIns="45720" rIns="91440" bIns="45720" rtlCol="0" anchor="ctr">
            <a:normAutofit/>
          </a:bodyPr>
          <a:lstStyle/>
          <a:p>
            <a:pPr>
              <a:lnSpc>
                <a:spcPct val="90000"/>
              </a:lnSpc>
              <a:spcBef>
                <a:spcPts val="1000"/>
              </a:spcBef>
            </a:pPr>
            <a:r>
              <a:rPr lang="en-US" sz="2400" kern="1200" dirty="0">
                <a:solidFill>
                  <a:schemeClr val="tx2"/>
                </a:solidFill>
                <a:latin typeface="+mn-lt"/>
                <a:ea typeface="+mn-ea"/>
                <a:cs typeface="+mn-cs"/>
              </a:rPr>
              <a:t>Bank Marketing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 0"/>
          <p:cNvSpPr/>
          <p:nvPr/>
        </p:nvSpPr>
        <p:spPr>
          <a:xfrm>
            <a:off x="1179226" y="1280679"/>
            <a:ext cx="9833548" cy="1325563"/>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3600" b="1" kern="1200">
                <a:solidFill>
                  <a:schemeClr val="tx2"/>
                </a:solidFill>
                <a:latin typeface="+mj-lt"/>
                <a:ea typeface="+mj-ea"/>
                <a:cs typeface="+mj-cs"/>
              </a:rPr>
              <a:t>Business Problem Statement</a:t>
            </a:r>
            <a:endParaRPr lang="en-US" sz="3600" kern="1200">
              <a:solidFill>
                <a:schemeClr val="tx2"/>
              </a:solidFill>
              <a:latin typeface="+mj-lt"/>
              <a:ea typeface="+mj-ea"/>
              <a:cs typeface="+mj-cs"/>
            </a:endParaRPr>
          </a:p>
        </p:txBody>
      </p:sp>
      <p:grpSp>
        <p:nvGrpSpPr>
          <p:cNvPr id="13" name="Group 12">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4" name="Freeform: Shape 13">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1"/>
          <p:cNvSpPr/>
          <p:nvPr/>
        </p:nvSpPr>
        <p:spPr>
          <a:xfrm>
            <a:off x="511629" y="2890979"/>
            <a:ext cx="10501145" cy="2693976"/>
          </a:xfrm>
          <a:prstGeom prst="rect">
            <a:avLst/>
          </a:prstGeom>
        </p:spPr>
        <p:txBody>
          <a:bodyPr vert="horz" lIns="91440" tIns="45720" rIns="91440" bIns="45720" rtlCol="0">
            <a:normAutofit/>
          </a:bodyPr>
          <a:lstStyle/>
          <a:p>
            <a:pPr marL="342900" indent="-342900">
              <a:lnSpc>
                <a:spcPct val="90000"/>
              </a:lnSpc>
              <a:spcAft>
                <a:spcPts val="600"/>
              </a:spcAft>
              <a:buFont typeface="+mj-lt"/>
              <a:buAutoNum type="arabicPeriod"/>
            </a:pPr>
            <a:r>
              <a:rPr lang="en-US" i="1" dirty="0">
                <a:solidFill>
                  <a:schemeClr val="tx2"/>
                </a:solidFill>
              </a:rPr>
              <a:t>What factors drive customers to subscribe to a term deposit</a:t>
            </a:r>
          </a:p>
          <a:p>
            <a:pPr marL="342900" indent="-342900">
              <a:lnSpc>
                <a:spcPct val="90000"/>
              </a:lnSpc>
              <a:spcAft>
                <a:spcPts val="600"/>
              </a:spcAft>
              <a:buFont typeface="+mj-lt"/>
              <a:buAutoNum type="arabicPeriod"/>
            </a:pPr>
            <a:r>
              <a:rPr lang="en-US" i="1" dirty="0">
                <a:solidFill>
                  <a:schemeClr val="tx2"/>
                </a:solidFill>
              </a:rPr>
              <a:t>which customer segments should the bank prioritize in future marketing campaigns to improve response rates?</a:t>
            </a:r>
            <a:endParaRPr lang="en-US" dirty="0">
              <a:solidFill>
                <a:schemeClr val="tx2"/>
              </a:solidFill>
            </a:endParaRPr>
          </a:p>
        </p:txBody>
      </p:sp>
      <p:grpSp>
        <p:nvGrpSpPr>
          <p:cNvPr id="19" name="Group 18">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0" name="Freeform: Shape 19">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 2"/>
          <p:cNvSpPr/>
          <p:nvPr/>
        </p:nvSpPr>
        <p:spPr>
          <a:xfrm>
            <a:off x="511629" y="3967260"/>
            <a:ext cx="10698480" cy="1097280"/>
          </a:xfrm>
          <a:prstGeom prst="rect">
            <a:avLst/>
          </a:prstGeom>
          <a:noFill/>
          <a:ln/>
        </p:spPr>
        <p:txBody>
          <a:bodyPr wrap="square" rtlCol="0" anchor="ctr"/>
          <a:lstStyle/>
          <a:p>
            <a:pPr marL="285750" indent="-285750">
              <a:spcAft>
                <a:spcPts val="800"/>
              </a:spcAft>
              <a:buSzPct val="100000"/>
              <a:buFont typeface="Arial" panose="020B0604020202020204" pitchFamily="34" charset="0"/>
              <a:buChar char="•"/>
            </a:pPr>
            <a:r>
              <a:rPr lang="en-GB" sz="1600" dirty="0"/>
              <a:t>Previous campaign success was the strongest predictor of term deposit subscriptions, with a subscription rate of 91.3%.</a:t>
            </a:r>
          </a:p>
          <a:p>
            <a:pPr marL="285750" indent="-285750">
              <a:spcAft>
                <a:spcPts val="800"/>
              </a:spcAft>
              <a:buSzPct val="100000"/>
              <a:buFont typeface="Arial" panose="020B0604020202020204" pitchFamily="34" charset="0"/>
              <a:buChar char="•"/>
            </a:pPr>
            <a:r>
              <a:rPr lang="en-GB" sz="1600" dirty="0"/>
              <a:t>Customers aged 60 and above were the most likely to subscribe to a term deposit, recording a subscription rate of 82.2%.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033466" y="991261"/>
            <a:ext cx="5754696" cy="1038925"/>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3600" b="1" kern="1200" dirty="0">
                <a:solidFill>
                  <a:schemeClr val="tx2"/>
                </a:solidFill>
                <a:latin typeface="+mj-lt"/>
                <a:ea typeface="+mj-ea"/>
                <a:cs typeface="+mj-cs"/>
              </a:rPr>
              <a:t>Dataset Overview</a:t>
            </a:r>
            <a:endParaRPr lang="en-US" sz="3600" kern="1200" dirty="0">
              <a:solidFill>
                <a:schemeClr val="tx2"/>
              </a:solidFill>
              <a:latin typeface="+mj-lt"/>
              <a:ea typeface="+mj-ea"/>
              <a:cs typeface="+mj-cs"/>
            </a:endParaRPr>
          </a:p>
        </p:txBody>
      </p:sp>
      <p:grpSp>
        <p:nvGrpSpPr>
          <p:cNvPr id="26" name="Group 25">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2" name="Freeform: Shape 11">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12">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13">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14">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15">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Text 1"/>
          <p:cNvSpPr/>
          <p:nvPr/>
        </p:nvSpPr>
        <p:spPr>
          <a:xfrm>
            <a:off x="1209359" y="2157465"/>
            <a:ext cx="9313015" cy="2349221"/>
          </a:xfrm>
          <a:prstGeom prst="rect">
            <a:avLst/>
          </a:prstGeom>
        </p:spPr>
        <p:txBody>
          <a:bodyPr vert="horz" lIns="91440" tIns="45720" rIns="91440" bIns="45720" rtlCol="0" anchor="t">
            <a:normAutofit/>
          </a:bodyPr>
          <a:lstStyle/>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11,162 customer records, 17 features</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Target variable: deposit (yes/no) - 47.4% subscribed, 52.6% did not</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No missing values or duplicates found</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Demographics: age, job, marital status, education</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Financial: account balance, housing loan, personal loan</a:t>
            </a:r>
          </a:p>
          <a:p>
            <a:pPr marL="342900" indent="-228600">
              <a:lnSpc>
                <a:spcPct val="90000"/>
              </a:lnSpc>
              <a:spcAft>
                <a:spcPts val="1000"/>
              </a:spcAft>
              <a:buSzPct val="100000"/>
              <a:buFont typeface="Arial" panose="020B0604020202020204" pitchFamily="34" charset="0"/>
              <a:buChar char="•"/>
            </a:pPr>
            <a:r>
              <a:rPr lang="en-US" sz="1400" dirty="0">
                <a:solidFill>
                  <a:schemeClr val="tx2"/>
                </a:solidFill>
              </a:rPr>
              <a:t>Campaign: contact method, day/month, number of contacts, previous outcome</a:t>
            </a:r>
          </a:p>
        </p:txBody>
      </p:sp>
      <p:sp>
        <p:nvSpPr>
          <p:cNvPr id="4" name="Text 2"/>
          <p:cNvSpPr/>
          <p:nvPr/>
        </p:nvSpPr>
        <p:spPr>
          <a:xfrm>
            <a:off x="731520" y="4937760"/>
            <a:ext cx="10698480" cy="1097280"/>
          </a:xfrm>
          <a:prstGeom prst="rect">
            <a:avLst/>
          </a:prstGeom>
          <a:noFill/>
          <a:ln/>
        </p:spPr>
        <p:txBody>
          <a:bodyPr wrap="square" rtlCol="0" anchor="ctr"/>
          <a:lstStyle/>
          <a:p>
            <a:pPr marL="0" indent="0">
              <a:spcAft>
                <a:spcPts val="600"/>
              </a:spcAft>
              <a:buNone/>
            </a:pPr>
            <a:r>
              <a:rPr lang="en-US" sz="1400" i="1" dirty="0">
                <a:solidFill>
                  <a:srgbClr val="555555"/>
                </a:solidFill>
                <a:latin typeface="Calibri" pitchFamily="34" charset="0"/>
                <a:ea typeface="Calibri" pitchFamily="34" charset="-122"/>
                <a:cs typeface="Calibri" pitchFamily="34" charset="-120"/>
              </a:rPr>
              <a:t>Note: several columns use "unknown" as a placeholder for missing information rather than a blank cell - most notably previous campaign outcome, where most customers have no prior record. There is also no unique customer identifier in this dataset.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3" name="Rectangle 3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 0"/>
          <p:cNvSpPr/>
          <p:nvPr/>
        </p:nvSpPr>
        <p:spPr>
          <a:xfrm>
            <a:off x="1051560" y="586822"/>
            <a:ext cx="3657600" cy="1645920"/>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200" b="1">
                <a:latin typeface="+mj-lt"/>
                <a:ea typeface="+mj-ea"/>
                <a:cs typeface="+mj-cs"/>
              </a:rPr>
              <a:t>Subscription Rate by Job and Age Group</a:t>
            </a:r>
            <a:endParaRPr lang="en-US" sz="3200">
              <a:latin typeface="+mj-lt"/>
              <a:ea typeface="+mj-ea"/>
              <a:cs typeface="+mj-cs"/>
            </a:endParaRPr>
          </a:p>
        </p:txBody>
      </p:sp>
      <p:sp>
        <p:nvSpPr>
          <p:cNvPr id="14" name="Rectangle 13">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1"/>
          <p:cNvSpPr/>
          <p:nvPr/>
        </p:nvSpPr>
        <p:spPr>
          <a:xfrm>
            <a:off x="5250106" y="586822"/>
            <a:ext cx="6106742" cy="164592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GB" dirty="0"/>
              <a:t>Students (74.7%) and retirees (66.3%) recorded subscription rates well above the overall average, suggesting they were more likely to subscribe to a term deposit than working-age customers. Similarly, customers aged 60 and above achieved the highest subscription rate (82.2%), nearly double that of every other age group.</a:t>
            </a:r>
            <a:endParaRPr lang="en-US" dirty="0"/>
          </a:p>
        </p:txBody>
      </p:sp>
      <p:pic>
        <p:nvPicPr>
          <p:cNvPr id="4" name="Image 1" descr="user_charts/age_group_uploaded.png"/>
          <p:cNvPicPr>
            <a:picLocks noChangeAspect="1"/>
          </p:cNvPicPr>
          <p:nvPr/>
        </p:nvPicPr>
        <p:blipFill>
          <a:blip r:embed="rId3"/>
          <a:stretch>
            <a:fillRect/>
          </a:stretch>
        </p:blipFill>
        <p:spPr>
          <a:xfrm>
            <a:off x="688901" y="2729397"/>
            <a:ext cx="5219272" cy="3483864"/>
          </a:xfrm>
          <a:prstGeom prst="rect">
            <a:avLst/>
          </a:prstGeom>
        </p:spPr>
      </p:pic>
      <p:pic>
        <p:nvPicPr>
          <p:cNvPr id="3" name="Image 0" descr="user_charts/cell_44.png"/>
          <p:cNvPicPr>
            <a:picLocks noChangeAspect="1"/>
          </p:cNvPicPr>
          <p:nvPr/>
        </p:nvPicPr>
        <p:blipFill>
          <a:blip r:embed="rId4"/>
          <a:stretch>
            <a:fillRect/>
          </a:stretch>
        </p:blipFill>
        <p:spPr>
          <a:xfrm>
            <a:off x="6198781" y="2869635"/>
            <a:ext cx="5523082" cy="32033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by Day of Month, Grouped by Month</a:t>
            </a:r>
            <a:endParaRPr lang="en-US" sz="2600" dirty="0"/>
          </a:p>
        </p:txBody>
      </p:sp>
      <p:pic>
        <p:nvPicPr>
          <p:cNvPr id="3" name="Image 0" descr="user_charts/day_of_month_grouped.png"/>
          <p:cNvPicPr>
            <a:picLocks noChangeAspect="1"/>
          </p:cNvPicPr>
          <p:nvPr/>
        </p:nvPicPr>
        <p:blipFill>
          <a:blip r:embed="rId3"/>
          <a:stretch>
            <a:fillRect/>
          </a:stretch>
        </p:blipFill>
        <p:spPr>
          <a:xfrm>
            <a:off x="457200" y="1463040"/>
            <a:ext cx="11247120" cy="3913632"/>
          </a:xfrm>
          <a:prstGeom prst="rect">
            <a:avLst/>
          </a:prstGeom>
        </p:spPr>
      </p:pic>
      <p:sp>
        <p:nvSpPr>
          <p:cNvPr id="4" name="Text 1"/>
          <p:cNvSpPr/>
          <p:nvPr/>
        </p:nvSpPr>
        <p:spPr>
          <a:xfrm>
            <a:off x="548640" y="5486400"/>
            <a:ext cx="11064240" cy="822960"/>
          </a:xfrm>
          <a:prstGeom prst="rect">
            <a:avLst/>
          </a:prstGeom>
          <a:noFill/>
          <a:ln/>
        </p:spPr>
        <p:txBody>
          <a:bodyPr wrap="square" rtlCol="0" anchor="ctr"/>
          <a:lstStyle/>
          <a:p>
            <a:r>
              <a:rPr lang="en-GB" sz="1400" dirty="0"/>
              <a:t>Several campaign days in March, September, October, and December achieved exceptionally high subscription rates, often ranging between 80% and 100%. By comparison, May consistently recorded lower subscription rates despite having the highest number of customer contacts. These findings indicate that effective campaign timing and targeted customer engagement contribute more to successful term deposit subscriptions than increasing the volume of customer contacts.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dirty="0">
                <a:solidFill>
                  <a:schemeClr val="tx2"/>
                </a:solidFill>
                <a:latin typeface="+mj-lt"/>
                <a:ea typeface="+mj-ea"/>
                <a:cs typeface="+mj-cs"/>
              </a:rPr>
              <a:t>Subscription Rate by Previous Outcome and Education</a:t>
            </a:r>
            <a:endParaRPr lang="en-US" sz="2600" dirty="0"/>
          </a:p>
        </p:txBody>
      </p:sp>
      <p:pic>
        <p:nvPicPr>
          <p:cNvPr id="3" name="Image 0" descr="user_charts/cell_36.png"/>
          <p:cNvPicPr>
            <a:picLocks noChangeAspect="1"/>
          </p:cNvPicPr>
          <p:nvPr/>
        </p:nvPicPr>
        <p:blipFill>
          <a:blip r:embed="rId3"/>
          <a:stretch>
            <a:fillRect/>
          </a:stretch>
        </p:blipFill>
        <p:spPr>
          <a:xfrm>
            <a:off x="822960" y="1463040"/>
            <a:ext cx="3840480" cy="3849624"/>
          </a:xfrm>
          <a:prstGeom prst="rect">
            <a:avLst/>
          </a:prstGeom>
        </p:spPr>
      </p:pic>
      <p:pic>
        <p:nvPicPr>
          <p:cNvPr id="4" name="Image 1" descr="user_charts/cell_28.png"/>
          <p:cNvPicPr>
            <a:picLocks noChangeAspect="1"/>
          </p:cNvPicPr>
          <p:nvPr/>
        </p:nvPicPr>
        <p:blipFill>
          <a:blip r:embed="rId4"/>
          <a:stretch>
            <a:fillRect/>
          </a:stretch>
        </p:blipFill>
        <p:spPr>
          <a:xfrm>
            <a:off x="6217920" y="1645920"/>
            <a:ext cx="5303520" cy="3163824"/>
          </a:xfrm>
          <a:prstGeom prst="rect">
            <a:avLst/>
          </a:prstGeom>
        </p:spPr>
      </p:pic>
      <p:sp>
        <p:nvSpPr>
          <p:cNvPr id="5" name="Text 1"/>
          <p:cNvSpPr/>
          <p:nvPr/>
        </p:nvSpPr>
        <p:spPr>
          <a:xfrm>
            <a:off x="548640" y="5394960"/>
            <a:ext cx="11064240" cy="822960"/>
          </a:xfrm>
          <a:prstGeom prst="rect">
            <a:avLst/>
          </a:prstGeom>
          <a:noFill/>
          <a:ln/>
        </p:spPr>
        <p:txBody>
          <a:bodyPr wrap="square" rtlCol="0" anchor="ctr"/>
          <a:lstStyle/>
          <a:p>
            <a:r>
              <a:rPr lang="en-GB" sz="1400" dirty="0"/>
              <a:t>Customers with a successful previous campaign outcome recorded the highest subscription rate (91.3%), compared with 40.7% for customers with no previous campaign history. Tertiary educated customers also recorded the highest subscription rate (54.1%) among all education levels.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by Contact Method and Marital Status</a:t>
            </a:r>
            <a:endParaRPr lang="en-US" sz="2600"/>
          </a:p>
        </p:txBody>
      </p:sp>
      <p:sp>
        <p:nvSpPr>
          <p:cNvPr id="4" name="Contact Card BG"/>
          <p:cNvSpPr/>
          <p:nvPr/>
        </p:nvSpPr>
        <p:spPr>
          <a:xfrm>
            <a:off x="6461760" y="1706880"/>
            <a:ext cx="5181600" cy="3396573"/>
          </a:xfrm>
          <a:prstGeom prst="roundRect">
            <a:avLst>
              <a:gd name="adj" fmla="val 4500"/>
            </a:avLst>
          </a:prstGeom>
          <a:solidFill>
            <a:srgbClr val="F2F6FB"/>
          </a:solidFill>
          <a:ln>
            <a:noFill/>
          </a:ln>
        </p:spPr>
        <p:txBody>
          <a:bodyPr/>
          <a:lstStyle/>
          <a:p>
            <a:endParaRPr lang="en-US"/>
          </a:p>
        </p:txBody>
      </p:sp>
      <p:sp>
        <p:nvSpPr>
          <p:cNvPr id="5" name="Contact Card Bar"/>
          <p:cNvSpPr/>
          <p:nvPr/>
        </p:nvSpPr>
        <p:spPr>
          <a:xfrm>
            <a:off x="6461760" y="1706880"/>
            <a:ext cx="118872" cy="3396573"/>
          </a:xfrm>
          <a:prstGeom prst="rect">
            <a:avLst/>
          </a:prstGeom>
          <a:solidFill>
            <a:schemeClr val="accent5"/>
          </a:solidFill>
          <a:ln>
            <a:noFill/>
          </a:ln>
        </p:spPr>
        <p:txBody>
          <a:bodyPr/>
          <a:lstStyle/>
          <a:p>
            <a:endParaRPr lang="en-US"/>
          </a:p>
        </p:txBody>
      </p:sp>
      <p:sp>
        <p:nvSpPr>
          <p:cNvPr id="6" name="Contact Card Text"/>
          <p:cNvSpPr/>
          <p:nvPr/>
        </p:nvSpPr>
        <p:spPr>
          <a:xfrm>
            <a:off x="6797040" y="1889760"/>
            <a:ext cx="4663440" cy="3031200"/>
          </a:xfrm>
          <a:prstGeom prst="rect">
            <a:avLst/>
          </a:prstGeom>
          <a:noFill/>
        </p:spPr>
        <p:txBody>
          <a:bodyPr wrap="square" rtlCol="0" anchor="ctr"/>
          <a:lstStyle/>
          <a:p>
            <a:pPr marL="0" indent="0">
              <a:buNone/>
            </a:pPr>
            <a:r>
              <a:rPr lang="en-US" sz="1400" b="1" spc="200">
                <a:solidFill>
                  <a:schemeClr val="accent5"/>
                </a:solidFill>
                <a:latin typeface="+mn-lt"/>
              </a:rPr>
              <a:t>CONTACT METHOD</a:t>
            </a:r>
          </a:p>
          <a:p>
            <a:pPr marL="0" indent="0">
              <a:spcBef>
                <a:spcPts val="600"/>
              </a:spcBef>
              <a:buNone/>
            </a:pPr>
            <a:r>
              <a:rPr lang="en-US" sz="5400" b="1" kern="1200">
                <a:solidFill>
                  <a:schemeClr val="tx2"/>
                </a:solidFill>
                <a:latin typeface="+mj-lt"/>
              </a:rPr>
              <a:t>54.3%</a:t>
            </a:r>
          </a:p>
          <a:p>
            <a:pPr marL="0" indent="0">
              <a:buNone/>
            </a:pPr>
            <a:r>
              <a:rPr lang="en-US" sz="1600" b="1">
                <a:solidFill>
                  <a:schemeClr val="tx2"/>
                </a:solidFill>
                <a:latin typeface="+mn-lt"/>
              </a:rPr>
              <a:t>Cellular subscription rate</a:t>
            </a:r>
          </a:p>
          <a:p>
            <a:pPr marL="0" indent="0">
              <a:spcBef>
                <a:spcPts val="1000"/>
              </a:spcBef>
              <a:buNone/>
            </a:pPr>
            <a:r>
              <a:rPr lang="en-US" sz="1400">
                <a:solidFill>
                  <a:srgbClr val="404756"/>
                </a:solidFill>
                <a:latin typeface="+mn-lt"/>
              </a:rPr>
              <a:t>Cellular is the most effective contact channel, clearly outperforming telephone and other contact types for term deposit subscriptions.</a:t>
            </a:r>
          </a:p>
        </p:txBody>
      </p:sp>
      <p:sp>
        <p:nvSpPr>
          <p:cNvPr id="7" name="Caption"/>
          <p:cNvSpPr/>
          <p:nvPr/>
        </p:nvSpPr>
        <p:spPr>
          <a:xfrm>
            <a:off x="548640" y="5364480"/>
            <a:ext cx="11094720" cy="1005840"/>
          </a:xfrm>
          <a:prstGeom prst="rect">
            <a:avLst/>
          </a:prstGeom>
          <a:noFill/>
          <a:ln/>
        </p:spPr>
        <p:txBody>
          <a:bodyPr wrap="square" rtlCol="0" anchor="ctr"/>
          <a:lstStyle/>
          <a:p>
            <a:r>
              <a:rPr lang="en-GB" sz="1400"/>
              <a:t>Single customers subscribe at the highest rate (around 54%), ahead of divorced (about 48%) and married (about 43%) customers. Paired with cellular being the most effective contact channel, these findings point to prioritising cellular outreach toward single, unattached customers when targeting term deposit campaigns.</a:t>
            </a:r>
            <a:endParaRPr lang="en-US" sz="1400"/>
          </a:p>
        </p:txBody>
      </p:sp>
      <p:pic>
        <p:nvPicPr>
          <p:cNvPr id="8" name="Picture 7">
            <a:extLst>
              <a:ext uri="{FF2B5EF4-FFF2-40B4-BE49-F238E27FC236}">
                <a16:creationId xmlns:a16="http://schemas.microsoft.com/office/drawing/2014/main" id="{A72E433E-5AAA-383E-E92B-3E3E0055D26D}"/>
              </a:ext>
            </a:extLst>
          </p:cNvPr>
          <p:cNvPicPr>
            <a:picLocks noChangeAspect="1"/>
          </p:cNvPicPr>
          <p:nvPr/>
        </p:nvPicPr>
        <p:blipFill>
          <a:blip r:embed="rId3"/>
          <a:srcRect/>
          <a:stretch>
            <a:fillRect/>
          </a:stretch>
        </p:blipFill>
        <p:spPr bwMode="auto">
          <a:xfrm>
            <a:off x="427895" y="1446129"/>
            <a:ext cx="5107782" cy="3521867"/>
          </a:xfrm>
          <a:prstGeom prst="rect">
            <a:avLst/>
          </a:prstGeom>
        </p:spPr>
      </p:pic>
    </p:spTree>
    <p:extLst>
      <p:ext uri="{BB962C8B-B14F-4D97-AF65-F5344CB8AC3E}">
        <p14:creationId xmlns:p14="http://schemas.microsoft.com/office/powerpoint/2010/main" val="3821179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Subscription Rate vs. Sum of Balance</a:t>
            </a:r>
            <a:endParaRPr lang="en-US" sz="2600" dirty="0"/>
          </a:p>
        </p:txBody>
      </p:sp>
      <p:sp>
        <p:nvSpPr>
          <p:cNvPr id="3" name="Text 1"/>
          <p:cNvSpPr/>
          <p:nvPr/>
        </p:nvSpPr>
        <p:spPr>
          <a:xfrm>
            <a:off x="548640" y="1417320"/>
            <a:ext cx="11064240" cy="36576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The group with the highest subscription rate is rarely the group holding the most total money:</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2743200"/>
        </p:xfrm>
        <a:graphic>
          <a:graphicData uri="http://schemas.openxmlformats.org/drawingml/2006/table">
            <a:tbl>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Highest Subscription Rate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Highest Sum of Balance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Job</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Student (74.7%)</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Management (£4.6M)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Education</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Tertiary (54.1%)</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Secondary (£7.1M)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Marital Status</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Single (54.3%)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Married (£10.2M)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Previous Outcome</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Success (91.3%)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Unknown (£12.0M)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Contact Method</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Cellular (54.3%)</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Cellular (£12.4M)</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4846320"/>
            <a:ext cx="11064240" cy="914400"/>
          </a:xfrm>
          <a:prstGeom prst="rect">
            <a:avLst/>
          </a:prstGeom>
          <a:noFill/>
          <a:ln/>
        </p:spPr>
        <p:txBody>
          <a:bodyPr wrap="square" rtlCol="0" anchor="ctr"/>
          <a:lstStyle/>
          <a:p>
            <a:r>
              <a:rPr lang="en-GB" sz="1400" dirty="0"/>
              <a:t>Total account balance reflects the size of a customer segment rather than its likelihood of subscribing. For example, the Management group held the highest total account balance due to its larger customer base, despite not recording the highest subscription rate. Contact Method was the only variable where the same category (Cellular) ranked highest for both measures.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Major Findings</a:t>
            </a:r>
            <a:endParaRPr lang="en-US" sz="2600" dirty="0"/>
          </a:p>
        </p:txBody>
      </p:sp>
      <p:sp>
        <p:nvSpPr>
          <p:cNvPr id="3" name="Text 1"/>
          <p:cNvSpPr/>
          <p:nvPr/>
        </p:nvSpPr>
        <p:spPr>
          <a:xfrm>
            <a:off x="731520" y="1645920"/>
            <a:ext cx="10698480" cy="4114800"/>
          </a:xfrm>
          <a:prstGeom prst="rect">
            <a:avLst/>
          </a:prstGeom>
          <a:noFill/>
          <a:ln/>
        </p:spPr>
        <p:txBody>
          <a:bodyPr wrap="square" rtlCol="0" anchor="ctr"/>
          <a:lstStyle/>
          <a:p>
            <a:pPr marL="342900" indent="-342900">
              <a:spcAft>
                <a:spcPts val="1600"/>
              </a:spcAft>
              <a:buSzPct val="100000"/>
              <a:buChar char="•"/>
            </a:pPr>
            <a:r>
              <a:rPr lang="en-GB" sz="1600" dirty="0"/>
              <a:t>Customer life stage has a greater influence on term deposit subscriptions than occupation. Students and retirees recorded significantly higher subscription rates than the overall average, suggesting they were more likely to subscribe to a term deposit.</a:t>
            </a:r>
            <a:endParaRPr lang="en-US" sz="1600" dirty="0"/>
          </a:p>
          <a:p>
            <a:pPr marL="342900" indent="-342900">
              <a:spcAft>
                <a:spcPts val="1600"/>
              </a:spcAft>
              <a:buSzPct val="100000"/>
              <a:buChar char="•"/>
            </a:pPr>
            <a:r>
              <a:rPr lang="en-GB" sz="1600" dirty="0"/>
              <a:t>Previous campaign success is the strongest predictor of future subscriptions. Customers who responded positively to a previous marketing campaign recorded a subscription rate of 91.3%, almost twice the overall subscription rate of 47.4%.</a:t>
            </a:r>
            <a:endParaRPr lang="en-US" sz="1600" dirty="0"/>
          </a:p>
          <a:p>
            <a:pPr marL="342900" indent="-342900">
              <a:spcAft>
                <a:spcPts val="1600"/>
              </a:spcAft>
              <a:buSzPct val="100000"/>
              <a:buChar char="•"/>
            </a:pPr>
            <a:r>
              <a:rPr lang="en-GB" sz="1600" dirty="0"/>
              <a:t>Campaign timing has a greater impact than contact volume. Marketing campaigns conducted during March, September, October, and December consistently achieved higher subscription rates than those conducted in May, despite May having the highest number of customer contacts.</a:t>
            </a:r>
            <a:endParaRPr lang="en-US" sz="1600" dirty="0"/>
          </a:p>
          <a:p>
            <a:pPr marL="342900" indent="-342900">
              <a:spcAft>
                <a:spcPts val="1600"/>
              </a:spcAft>
              <a:buSzPct val="100000"/>
              <a:buChar char="•"/>
            </a:pPr>
            <a:r>
              <a:rPr lang="en-GB" sz="1600" dirty="0"/>
              <a:t>Higher account balances do not necessarily lead to higher subscription rates. Customer segments holding the largest total account balances were rarely the most likely to subscribe to a term deposit, demonstrating that subscription rate is a more effective metric for identifying target customer segments than total account balance.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913" name="Group 1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4262009" cy="2602764"/>
            <a:chOff x="6867015" y="0"/>
            <a:chExt cx="5324985" cy="3251912"/>
          </a:xfrm>
          <a:solidFill>
            <a:schemeClr val="accent5">
              <a:alpha val="5000"/>
            </a:schemeClr>
          </a:solidFill>
        </p:grpSpPr>
        <p:sp>
          <p:nvSpPr>
            <p:cNvPr id="914" name="Freeform: Shape 1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0"/>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Freeform: Shape 1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0"/>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Freeform: Shape 1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Freeform: Shape 1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0"/>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9" name="Group 1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920" name="Freeform: Shape 1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Freeform: Shape 2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Freeform: Shape 2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 0"/>
          <p:cNvSpPr/>
          <p:nvPr/>
        </p:nvSpPr>
        <p:spPr>
          <a:xfrm>
            <a:off x="548640" y="365760"/>
            <a:ext cx="11091672" cy="594360"/>
          </a:xfrm>
          <a:prstGeom prst="rect">
            <a:avLst/>
          </a:prstGeom>
          <a:noFill/>
          <a:ln/>
        </p:spPr>
        <p:txBody>
          <a:bodyPr wrap="square" rtlCol="0" anchor="ctr"/>
          <a:lstStyle/>
          <a:p>
            <a:pPr marL="0" indent="0">
              <a:buNone/>
            </a:pPr>
            <a:r>
              <a:rPr lang="en-US" sz="2600" b="1" kern="1200">
                <a:solidFill>
                  <a:schemeClr val="tx2"/>
                </a:solidFill>
                <a:latin typeface="+mj-lt"/>
                <a:ea typeface="+mj-ea"/>
                <a:cs typeface="+mj-cs"/>
              </a:rPr>
              <a:t>Recommendations</a:t>
            </a:r>
            <a:endParaRPr lang="en-US" sz="2600" dirty="0"/>
          </a:p>
        </p:txBody>
      </p:sp>
      <p:sp>
        <p:nvSpPr>
          <p:cNvPr id="3" name="Text 1"/>
          <p:cNvSpPr/>
          <p:nvPr/>
        </p:nvSpPr>
        <p:spPr>
          <a:xfrm>
            <a:off x="731520" y="1645919"/>
            <a:ext cx="10698480" cy="4619149"/>
          </a:xfrm>
          <a:prstGeom prst="rect">
            <a:avLst/>
          </a:prstGeom>
          <a:noFill/>
          <a:ln/>
        </p:spPr>
        <p:txBody>
          <a:bodyPr wrap="square" rtlCol="0" anchor="ctr"/>
          <a:lstStyle/>
          <a:p>
            <a:pPr marL="342900" indent="-342900">
              <a:spcAft>
                <a:spcPts val="1400"/>
              </a:spcAft>
              <a:buSzPct val="100000"/>
              <a:buChar char="•"/>
            </a:pPr>
            <a:r>
              <a:rPr lang="en-GB" sz="1600" dirty="0"/>
              <a:t>Prioritise customers with successful previous campaign outcomes. Customers who responded positively to previous marketing campaigns recorded the highest subscription rate (91.3%), making them the most promising segment for future marketing efforts.</a:t>
            </a:r>
            <a:endParaRPr lang="en-US" sz="1600" dirty="0"/>
          </a:p>
          <a:p>
            <a:pPr marL="342900" indent="-342900">
              <a:spcAft>
                <a:spcPts val="1400"/>
              </a:spcAft>
              <a:buSzPct val="100000"/>
              <a:buChar char="•"/>
            </a:pPr>
            <a:r>
              <a:rPr lang="en-GB" sz="1600" dirty="0"/>
              <a:t>Increase marketing efforts towards high performing customer segments. Customers aged 60 and above, as well as students and retirees, consistently recorded the highest subscription rates and should be prioritised in future campaigns.</a:t>
            </a:r>
            <a:endParaRPr lang="en-US" sz="1600" dirty="0"/>
          </a:p>
          <a:p>
            <a:pPr marL="342900" indent="-342900">
              <a:spcAft>
                <a:spcPts val="1400"/>
              </a:spcAft>
              <a:buSzPct val="100000"/>
              <a:buChar char="•"/>
            </a:pPr>
            <a:r>
              <a:rPr lang="en-GB" sz="1600" dirty="0"/>
              <a:t>Optimise campaign timing. Review the strategies used during March, September, October, and December, when subscription rates were consistently highest, and apply these best practices to future campaigns rather than relying solely on increasing customer contact volume.</a:t>
            </a:r>
            <a:endParaRPr lang="en-US" sz="1600" dirty="0"/>
          </a:p>
          <a:p>
            <a:pPr marL="342900" indent="-342900">
              <a:spcAft>
                <a:spcPts val="1400"/>
              </a:spcAft>
              <a:buSzPct val="100000"/>
              <a:buChar char="•"/>
            </a:pPr>
            <a:r>
              <a:rPr lang="en-GB" sz="1600" dirty="0"/>
              <a:t>Prioritise effective communication channels. Cellular contact achieved the highest subscription rate and should remain the preferred communication method for future marketing campaigns.</a:t>
            </a:r>
            <a:endParaRPr lang="en-US" sz="1600" dirty="0"/>
          </a:p>
          <a:p>
            <a:pPr marL="342900" indent="-342900">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 </a:t>
            </a:r>
            <a:r>
              <a:rPr lang="en-GB" sz="1600" dirty="0"/>
              <a:t>Use subscription rate as the primary targeting metric. Marketing decisions should be guided by customer subscription rates rather than total account balance, as higher financial value does not necessarily correspond to a greater likelihood of subscribing to a term deposit.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475</TotalTime>
  <Words>980</Words>
  <Application>Microsoft Office PowerPoint</Application>
  <PresentationFormat>Widescreen</PresentationFormat>
  <Paragraphs>68</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Deposit Subscription Analysis</dc:title>
  <dc:subject>PptxGenJS Presentation</dc:subject>
  <dc:creator>AnalystLab Africa Intern</dc:creator>
  <cp:lastModifiedBy>feyikemi Akande</cp:lastModifiedBy>
  <cp:revision>6</cp:revision>
  <dcterms:created xsi:type="dcterms:W3CDTF">2026-07-08T06:17:26Z</dcterms:created>
  <dcterms:modified xsi:type="dcterms:W3CDTF">2026-07-08T14:24:30Z</dcterms:modified>
</cp:coreProperties>
</file>